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26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188720" y="914400"/>
            <a:ext cx="4389120" cy="329184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8BDF8"/>
                </a:solidFill>
                <a:latin typeface="Segoe UI"/>
              </a:rPr>
              <a:t>ACENTRA HACKATHON 2026  •  CLOUD OBSERVABILITY / AI-OPS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25880"/>
            <a:ext cx="9784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8FAFC"/>
                </a:solidFill>
                <a:latin typeface="Segoe UI"/>
              </a:rPr>
              <a:t>LOG SENTINEL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31720"/>
            <a:ext cx="9784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8BDF8"/>
                </a:solidFill>
                <a:latin typeface="Segoe UI"/>
              </a:rPr>
              <a:t>Sub-Second Statistical Log Anomaly Detection &amp; Real-Time Incident Response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971800"/>
            <a:ext cx="2331720" cy="86868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⚡ &lt; 100ms Latency</a:t>
            </a:r>
          </a:p>
          <a:p>
            <a:r>
              <a:rPr sz="950">
                <a:solidFill>
                  <a:srgbClr val="94A3B8"/>
                </a:solidFill>
                <a:latin typeface="Segoe UI"/>
              </a:rPr>
              <a:t>Non-blocking async tailing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971800"/>
            <a:ext cx="2331720" cy="86868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🧠 Dynamic Z-Score</a:t>
            </a:r>
          </a:p>
          <a:p>
            <a:r>
              <a:rPr sz="950">
                <a:solidFill>
                  <a:srgbClr val="94A3B8"/>
                </a:solidFill>
                <a:latin typeface="Segoe UI"/>
              </a:rPr>
              <a:t>Self-adapting rolling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971800"/>
            <a:ext cx="2331720" cy="86868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🔄 Self-Healing Engine</a:t>
            </a:r>
          </a:p>
          <a:p>
            <a:r>
              <a:rPr sz="950">
                <a:solidFill>
                  <a:srgbClr val="94A3B8"/>
                </a:solidFill>
                <a:latin typeface="Segoe UI"/>
              </a:rPr>
              <a:t>Zero-human incident recovery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2971800"/>
            <a:ext cx="2331720" cy="86868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🌐 Production NGINX</a:t>
            </a:r>
          </a:p>
          <a:p>
            <a:r>
              <a:rPr sz="950">
                <a:solidFill>
                  <a:srgbClr val="94A3B8"/>
                </a:solidFill>
                <a:latin typeface="Segoe UI"/>
              </a:rPr>
              <a:t>Tested with real microservices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4069080"/>
            <a:ext cx="9814255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4160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A855F7"/>
                </a:solidFill>
                <a:latin typeface="Segoe UI"/>
              </a:rPr>
              <a:t>ENGINEERED BY TEAM : THE LIABILITIES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480560"/>
            <a:ext cx="2240280" cy="123444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26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Lokesh R</a:t>
            </a:r>
          </a:p>
          <a:p>
            <a:r>
              <a:rPr sz="900" b="1">
                <a:solidFill>
                  <a:srgbClr val="38BDF8"/>
                </a:solidFill>
                <a:latin typeface="Segoe UI"/>
              </a:rPr>
              <a:t>System Architect &amp; Integration Lead</a:t>
            </a:r>
          </a:p>
          <a:p>
            <a:r>
              <a:rPr sz="800">
                <a:solidFill>
                  <a:srgbClr val="94A3B8"/>
                </a:solidFill>
                <a:latin typeface="Segoe UI"/>
              </a:rPr>
              <a:t>Architecture &amp; Real E-Commerce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30752" y="4480560"/>
            <a:ext cx="2240280" cy="123444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26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Jashwanth B</a:t>
            </a:r>
          </a:p>
          <a:p>
            <a:r>
              <a:rPr sz="900" b="1">
                <a:solidFill>
                  <a:srgbClr val="38BDF8"/>
                </a:solidFill>
                <a:latin typeface="Segoe UI"/>
              </a:rPr>
              <a:t>Anomaly Engine &amp; Statistical Models</a:t>
            </a:r>
          </a:p>
          <a:p>
            <a:r>
              <a:rPr sz="800">
                <a:solidFill>
                  <a:srgbClr val="94A3B8"/>
                </a:solidFill>
                <a:latin typeface="Segoe UI"/>
              </a:rPr>
              <a:t>Z-Score Engine, Sliding Window &amp; Hysteresis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4480560"/>
            <a:ext cx="2240280" cy="123444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26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Harish Neralla</a:t>
            </a:r>
          </a:p>
          <a:p>
            <a:r>
              <a:rPr sz="900" b="1">
                <a:solidFill>
                  <a:srgbClr val="38BDF8"/>
                </a:solidFill>
                <a:latin typeface="Segoe UI"/>
              </a:rPr>
              <a:t>Observability UI &amp; Dashboard</a:t>
            </a:r>
          </a:p>
          <a:p>
            <a:r>
              <a:rPr sz="800">
                <a:solidFill>
                  <a:srgbClr val="94A3B8"/>
                </a:solidFill>
                <a:latin typeface="Segoe UI"/>
              </a:rPr>
              <a:t>React/Vite Glassmorphism &amp; Recharts Telemetry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49056" y="4480560"/>
            <a:ext cx="2240280" cy="123444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26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1100" b="1">
                <a:solidFill>
                  <a:srgbClr val="F8FAFC"/>
                </a:solidFill>
                <a:latin typeface="Segoe UI"/>
              </a:rPr>
              <a:t>Tejeshwar Senthilkumar</a:t>
            </a:r>
          </a:p>
          <a:p>
            <a:r>
              <a:rPr sz="900" b="1">
                <a:solidFill>
                  <a:srgbClr val="38BDF8"/>
                </a:solidFill>
                <a:latin typeface="Segoe UI"/>
              </a:rPr>
              <a:t>AWS SNS Pipeline &amp; Simulation</a:t>
            </a:r>
          </a:p>
          <a:p>
            <a:r>
              <a:rPr sz="800">
                <a:solidFill>
                  <a:srgbClr val="94A3B8"/>
                </a:solidFill>
                <a:latin typeface="Segoe UI"/>
              </a:rPr>
              <a:t>Async Cloud Dispatcher &amp; Chaos Blaster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292608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01 // 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The Problem: Observability Lag in High-Throughput Modern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LOG SENTINEL  //  ACENTRA HACKATHON 2026  //  THE LIABILITIES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               SLIDE 02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685800"/>
          </a:xfrm>
          <a:prstGeom prst="roundRect">
            <a:avLst/>
          </a:prstGeom>
          <a:solidFill>
            <a:srgbClr val="12193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100" b="1">
                <a:solidFill>
                  <a:srgbClr val="EF4444"/>
                </a:solidFill>
                <a:latin typeface="Segoe UI"/>
              </a:rPr>
              <a:t>THE INDUSTRY DILEMMA: </a:t>
            </a:r>
            <a:r>
              <a:rPr sz="1100">
                <a:solidFill>
                  <a:srgbClr val="F8FAFC"/>
                </a:solidFill>
                <a:latin typeface="Segoe UI"/>
              </a:rPr>
              <a:t>In high-traffic systems (E-Commerce, FinTech, SaaS), every minute of downtime costs thousands of dollars. Traditional observability stacks fail during flash crashes.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3429000" cy="301752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64592" rIns="164592" rtlCol="0" anchor="ctr"/>
          <a:lstStyle/>
          <a:p>
            <a:pPr algn="ctr"/>
            <a:r>
              <a:rPr sz="1300" b="1">
                <a:solidFill>
                  <a:srgbClr val="EF4444"/>
                </a:solidFill>
                <a:latin typeface="Segoe UI"/>
              </a:rPr>
              <a:t>01. High MTTD (Alert Lag)</a:t>
            </a:r>
          </a:p>
          <a:p>
            <a:pPr>
              <a:spcAft>
                <a:spcPts val="600"/>
              </a:spcAft>
            </a:pPr>
            <a:endParaRPr sz="1300" b="1">
              <a:solidFill>
                <a:srgbClr val="EF4444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8FAFC"/>
                </a:solidFill>
                <a:latin typeface="Segoe UI"/>
              </a:rPr>
              <a:t>• Batch Polling Delays: </a:t>
            </a:r>
            <a:r>
              <a:rPr sz="950">
                <a:solidFill>
                  <a:srgbClr val="94A3B8"/>
                </a:solidFill>
                <a:latin typeface="Segoe UI"/>
              </a:rPr>
              <a:t>Traditional log analyzers (ELK / CloudWatch) run batch queries on 1 to 5 minute cron intervals.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8FAFC"/>
                </a:solidFill>
                <a:latin typeface="Segoe UI"/>
              </a:rPr>
              <a:t>• Blind Spot During Outages: </a:t>
            </a:r>
            <a:r>
              <a:rPr sz="950">
                <a:solidFill>
                  <a:srgbClr val="94A3B8"/>
                </a:solidFill>
                <a:latin typeface="Segoe UI"/>
              </a:rPr>
              <a:t>By the time an alert fires 3 minutes later, hundreds of shopping carts are abandoned and thousands of dollars lost.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8FAFC"/>
                </a:solidFill>
                <a:latin typeface="Segoe UI"/>
              </a:rPr>
              <a:t>• Slow Incident Discovery: </a:t>
            </a:r>
            <a:r>
              <a:rPr sz="950">
                <a:solidFill>
                  <a:srgbClr val="94A3B8"/>
                </a:solidFill>
                <a:latin typeface="Segoe UI"/>
              </a:rPr>
              <a:t>Mean Time To Detect (MTTD) remains in minutes instead of sub-seconds.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331720"/>
            <a:ext cx="3429000" cy="301752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64592" rIns="164592" rtlCol="0" anchor="ctr"/>
          <a:lstStyle/>
          <a:p>
            <a:pPr algn="ctr"/>
            <a:r>
              <a:rPr sz="1300" b="1">
                <a:solidFill>
                  <a:srgbClr val="F59E0B"/>
                </a:solidFill>
                <a:latin typeface="Segoe UI"/>
              </a:rPr>
              <a:t>02. Alert Fatigue &amp; False Alarms</a:t>
            </a:r>
          </a:p>
          <a:p>
            <a:pPr>
              <a:spcAft>
                <a:spcPts val="600"/>
              </a:spcAft>
            </a:pPr>
            <a:endParaRPr sz="1300" b="1">
              <a:solidFill>
                <a:srgbClr val="F59E0B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8FAFC"/>
                </a:solidFill>
                <a:latin typeface="Segoe UI"/>
              </a:rPr>
              <a:t>• Static Thresholds Fail: </a:t>
            </a:r>
            <a:r>
              <a:rPr sz="950">
                <a:solidFill>
                  <a:srgbClr val="94A3B8"/>
                </a:solidFill>
                <a:latin typeface="Segoe UI"/>
              </a:rPr>
              <a:t>Rigid rules (e.g. 'errors &gt; 50') trigger false alarms during legitimate traffic peaks or miss errors in low-volume hours.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8FAFC"/>
                </a:solidFill>
                <a:latin typeface="Segoe UI"/>
              </a:rPr>
              <a:t>• Alert Desensitization: </a:t>
            </a:r>
            <a:r>
              <a:rPr sz="950">
                <a:solidFill>
                  <a:srgbClr val="94A3B8"/>
                </a:solidFill>
                <a:latin typeface="Segoe UI"/>
              </a:rPr>
              <a:t>On-call engineers get overwhelmed by false positives and begin ignoring critical warnings.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8FAFC"/>
                </a:solidFill>
                <a:latin typeface="Segoe UI"/>
              </a:rPr>
              <a:t>• No Statistical Context: </a:t>
            </a:r>
            <a:r>
              <a:rPr sz="950">
                <a:solidFill>
                  <a:srgbClr val="94A3B8"/>
                </a:solidFill>
                <a:latin typeface="Segoe UI"/>
              </a:rPr>
              <a:t>Lack of rolling variance and baseline normalization.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331720"/>
            <a:ext cx="3429000" cy="301752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64592" rIns="164592" rtlCol="0" anchor="ctr"/>
          <a:lstStyle/>
          <a:p>
            <a:pPr algn="ctr"/>
            <a:r>
              <a:rPr sz="1300" b="1">
                <a:solidFill>
                  <a:srgbClr val="A855F7"/>
                </a:solidFill>
                <a:latin typeface="Segoe UI"/>
              </a:rPr>
              <a:t>03. Heavy Ingestion Overhead</a:t>
            </a:r>
          </a:p>
          <a:p>
            <a:pPr>
              <a:spcAft>
                <a:spcPts val="600"/>
              </a:spcAft>
            </a:pPr>
            <a:endParaRPr sz="1300" b="1">
              <a:solidFill>
                <a:srgbClr val="A855F7"/>
              </a:solidFill>
              <a:latin typeface="Segoe UI"/>
            </a:endParaRP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8FAFC"/>
                </a:solidFill>
                <a:latin typeface="Segoe UI"/>
              </a:rPr>
              <a:t>• Cloud Transport Latency: </a:t>
            </a:r>
            <a:r>
              <a:rPr sz="950">
                <a:solidFill>
                  <a:srgbClr val="94A3B8"/>
                </a:solidFill>
                <a:latin typeface="Segoe UI"/>
              </a:rPr>
              <a:t>Shipping terabytes of raw logs across the internet introduces network buffer delays.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8FAFC"/>
                </a:solidFill>
                <a:latin typeface="Segoe UI"/>
              </a:rPr>
              <a:t>• Extreme Egress Costs: </a:t>
            </a:r>
            <a:r>
              <a:rPr sz="950">
                <a:solidFill>
                  <a:srgbClr val="94A3B8"/>
                </a:solidFill>
                <a:latin typeface="Segoe UI"/>
              </a:rPr>
              <a:t>Massive cloud bills simply to ship raw unparsed text logs to third-party SaaS platforms.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F8FAFC"/>
                </a:solidFill>
                <a:latin typeface="Segoe UI"/>
              </a:rPr>
              <a:t>• Single Point of Failure: </a:t>
            </a:r>
            <a:r>
              <a:rPr sz="950">
                <a:solidFill>
                  <a:srgbClr val="94A3B8"/>
                </a:solidFill>
                <a:latin typeface="Segoe UI"/>
              </a:rPr>
              <a:t>If external logging ingestion stalls, production teams are completely blind.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32120"/>
            <a:ext cx="10728655" cy="64008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100" b="1">
                <a:solidFill>
                  <a:srgbClr val="38BDF8"/>
                </a:solidFill>
                <a:latin typeface="Segoe UI"/>
              </a:rPr>
              <a:t>THE CORE QUESTION: </a:t>
            </a:r>
            <a:r>
              <a:rPr sz="1100" i="1">
                <a:solidFill>
                  <a:srgbClr val="F8FAFC"/>
                </a:solidFill>
                <a:latin typeface="Segoe UI"/>
              </a:rPr>
              <a:t>How can engineering teams detect payment gateway outages (504s) and database deadlocks within 1 second of occurrence without expensive cloud telemetry?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292608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02 //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Log Sentinel: Local-First Streaming Statistical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LOG SENTINEL  //  ACENTRA HACKATHON 2026  //  THE LIABILITIES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               SLIDE 03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640080"/>
          </a:xfrm>
          <a:prstGeom prst="roundRect">
            <a:avLst/>
          </a:prstGeom>
          <a:solidFill>
            <a:srgbClr val="1219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100" b="1">
                <a:solidFill>
                  <a:srgbClr val="38BDF8"/>
                </a:solidFill>
                <a:latin typeface="Segoe UI"/>
              </a:rPr>
              <a:t>WHAT IS LOG SENTINEL? </a:t>
            </a:r>
            <a:r>
              <a:rPr sz="1100">
                <a:solidFill>
                  <a:srgbClr val="F8FAFC"/>
                </a:solidFill>
                <a:latin typeface="Segoe UI"/>
              </a:rPr>
              <a:t>A lightweight, streaming observability engine that performs continuous sliding-window statistical anomaly detection on live production server 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5242255" cy="192024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/>
            <a:r>
              <a:rPr sz="1250" b="1">
                <a:solidFill>
                  <a:srgbClr val="38BDF8"/>
                </a:solidFill>
                <a:latin typeface="Segoe UI"/>
              </a:rPr>
              <a:t>⚡ Sub-Second Latency (&lt; 100ms)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Non-Blocking File Tailer: </a:t>
            </a:r>
            <a:r>
              <a:rPr sz="900">
                <a:solidFill>
                  <a:srgbClr val="94A3B8"/>
                </a:solidFill>
                <a:latin typeface="Segoe UI"/>
              </a:rPr>
              <a:t>Directly tails local server access logs as OS disk writes occur.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Zero Cloud Transport Delay: </a:t>
            </a:r>
            <a:r>
              <a:rPr sz="900">
                <a:solidFill>
                  <a:srgbClr val="94A3B8"/>
                </a:solidFill>
                <a:latin typeface="Segoe UI"/>
              </a:rPr>
              <a:t>Detects spikes at the ingestion point before forwarding.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Sub-15ms Detection: </a:t>
            </a:r>
            <a:r>
              <a:rPr sz="900">
                <a:solidFill>
                  <a:srgbClr val="94A3B8"/>
                </a:solidFill>
                <a:latin typeface="Segoe UI"/>
              </a:rPr>
              <a:t>Instantaneous evaluation of every new log batch.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40280"/>
            <a:ext cx="5242255" cy="192024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/>
            <a:r>
              <a:rPr sz="1250" b="1">
                <a:solidFill>
                  <a:srgbClr val="2CB67D"/>
                </a:solidFill>
                <a:latin typeface="Segoe UI"/>
              </a:rPr>
              <a:t>🧠 Dynamic Z-Score Baseline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Self-Adapting Statistical Baseline: </a:t>
            </a:r>
            <a:r>
              <a:rPr sz="900">
                <a:solidFill>
                  <a:srgbClr val="94A3B8"/>
                </a:solidFill>
                <a:latin typeface="Segoe UI"/>
              </a:rPr>
              <a:t>Continuously updates rolling mean and standard deviation.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Suppresses False Alarms: </a:t>
            </a:r>
            <a:r>
              <a:rPr sz="900">
                <a:solidFill>
                  <a:srgbClr val="94A3B8"/>
                </a:solidFill>
                <a:latin typeface="Segoe UI"/>
              </a:rPr>
              <a:t>Adapts to natural traffic dips (nighttime) and normal busy spikes.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Dynamic Sensitivity: </a:t>
            </a:r>
            <a:r>
              <a:rPr sz="900">
                <a:solidFill>
                  <a:srgbClr val="94A3B8"/>
                </a:solidFill>
                <a:latin typeface="Segoe UI"/>
              </a:rPr>
              <a:t>Triggers based on relative deviation (sigma) rather than arbitrary magic numbers.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5242255" cy="192024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/>
            <a:r>
              <a:rPr sz="1250" b="1">
                <a:solidFill>
                  <a:srgbClr val="A855F7"/>
                </a:solidFill>
                <a:latin typeface="Segoe UI"/>
              </a:rPr>
              <a:t>🔄 Self-Healing State Machine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Automated Lifecycle: </a:t>
            </a:r>
            <a:r>
              <a:rPr sz="900">
                <a:solidFill>
                  <a:srgbClr val="94A3B8"/>
                </a:solidFill>
                <a:latin typeface="Segoe UI"/>
              </a:rPr>
              <a:t>Tracks NORMAL → WARNING → HIGH → CRITICAL → RECOVERY.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Zero-Human Reset: </a:t>
            </a:r>
            <a:r>
              <a:rPr sz="900">
                <a:solidFill>
                  <a:srgbClr val="94A3B8"/>
                </a:solidFill>
                <a:latin typeface="Segoe UI"/>
              </a:rPr>
              <a:t>Automatically returns to NORMAL once clean traffic flushes the rolling buffer.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Hysteresis Protection: </a:t>
            </a:r>
            <a:r>
              <a:rPr sz="900">
                <a:solidFill>
                  <a:srgbClr val="94A3B8"/>
                </a:solidFill>
                <a:latin typeface="Segoe UI"/>
              </a:rPr>
              <a:t>Enforces sustained recovery before resetting alerts to avoid flap cycles.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297680"/>
            <a:ext cx="5242255" cy="192024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/>
            <a:r>
              <a:rPr sz="1250" b="1">
                <a:solidFill>
                  <a:srgbClr val="F59E0B"/>
                </a:solidFill>
                <a:latin typeface="Segoe UI"/>
              </a:rPr>
              <a:t>🌐 Live Real-World Validation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Real Production NGINX (Port 8080): </a:t>
            </a:r>
            <a:r>
              <a:rPr sz="900">
                <a:solidFill>
                  <a:srgbClr val="94A3B8"/>
                </a:solidFill>
                <a:latin typeface="Segoe UI"/>
              </a:rPr>
              <a:t>Captures genuine Combined Log Format requests.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CloudMart E-Commerce Service (5001): </a:t>
            </a:r>
            <a:r>
              <a:rPr sz="900">
                <a:solidFill>
                  <a:srgbClr val="94A3B8"/>
                </a:solidFill>
                <a:latin typeface="Segoe UI"/>
              </a:rPr>
              <a:t>Real microservice with products, orders, and payment endpoints.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Live Chaos Fault Injection: </a:t>
            </a:r>
            <a:r>
              <a:rPr sz="900">
                <a:solidFill>
                  <a:srgbClr val="94A3B8"/>
                </a:solidFill>
                <a:latin typeface="Segoe UI"/>
              </a:rPr>
              <a:t>Simulates real Stripe 504 timeouts &amp; DB crashes on demand.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292608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03 //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End-to-End Real-Time Ingestion &amp; Alerting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LOG SENTINEL  //  ACENTRA HACKATHON 2026  //  THE LIABILITIES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               SLIDE 04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011680" cy="228600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rtlCol="0" anchor="ctr"/>
          <a:lstStyle/>
          <a:p>
            <a:pPr algn="ctr"/>
            <a:r>
              <a:rPr sz="1100" b="1">
                <a:solidFill>
                  <a:srgbClr val="38BDF8"/>
                </a:solidFill>
                <a:latin typeface="Segoe UI"/>
              </a:rPr>
              <a:t>1. Traffic Source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F8FAFC"/>
                </a:solidFill>
                <a:latin typeface="Segoe UI"/>
              </a:rPr>
              <a:t>Real Users &amp;
Chaos Blaster</a:t>
            </a:r>
          </a:p>
          <a:p>
            <a:pPr>
              <a:spcBef>
                <a:spcPts val="8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HTTP Requests
(200 / 502 / 504)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88920" y="2514600"/>
            <a:ext cx="18288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17520" y="1508760"/>
            <a:ext cx="2011680" cy="228600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rtlCol="0" anchor="ctr"/>
          <a:lstStyle/>
          <a:p>
            <a:pPr algn="ctr"/>
            <a:r>
              <a:rPr sz="1100" b="1">
                <a:solidFill>
                  <a:srgbClr val="38BDF8"/>
                </a:solidFill>
                <a:latin typeface="Segoe UI"/>
              </a:rPr>
              <a:t>2. NGINX Proxy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F8FAFC"/>
                </a:solidFill>
                <a:latin typeface="Segoe UI"/>
              </a:rPr>
              <a:t>Port 8080
Reverse Proxy</a:t>
            </a:r>
          </a:p>
          <a:p>
            <a:pPr>
              <a:spcBef>
                <a:spcPts val="8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Writes Combined
Log Format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74920" y="2514600"/>
            <a:ext cx="18288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303520" y="1508760"/>
            <a:ext cx="2011680" cy="228600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rtlCol="0" anchor="ctr"/>
          <a:lstStyle/>
          <a:p>
            <a:pPr algn="ctr"/>
            <a:r>
              <a:rPr sz="1100" b="1">
                <a:solidFill>
                  <a:srgbClr val="3B82F6"/>
                </a:solidFill>
                <a:latin typeface="Segoe UI"/>
              </a:rPr>
              <a:t>3. Async Tailer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F8FAFC"/>
                </a:solidFill>
                <a:latin typeface="Segoe UI"/>
              </a:rPr>
              <a:t>FastAPI Port 8000
Background Task</a:t>
            </a:r>
          </a:p>
          <a:p>
            <a:pPr>
              <a:spcBef>
                <a:spcPts val="8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Non-blocking
Shared File Read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360920" y="2514600"/>
            <a:ext cx="18288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589520" y="1508760"/>
            <a:ext cx="2011680" cy="228600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rtlCol="0" anchor="ctr"/>
          <a:lstStyle/>
          <a:p>
            <a:pPr algn="ctr"/>
            <a:r>
              <a:rPr sz="1100" b="1">
                <a:solidFill>
                  <a:srgbClr val="A855F7"/>
                </a:solidFill>
                <a:latin typeface="Segoe UI"/>
              </a:rPr>
              <a:t>4. Anomaly Engine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F8FAFC"/>
                </a:solidFill>
                <a:latin typeface="Segoe UI"/>
              </a:rPr>
              <a:t>Z-Score &amp; Rolling
Sliding Window</a:t>
            </a:r>
          </a:p>
          <a:p>
            <a:pPr>
              <a:spcBef>
                <a:spcPts val="8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Calculates Error Rate
&amp; Sigma Deviation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646920" y="1920240"/>
            <a:ext cx="182880" cy="22860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875520" y="1508760"/>
            <a:ext cx="1584655" cy="1078992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5A. WebSocket /ws
</a:t>
            </a:r>
            <a:r>
              <a:rPr sz="850">
                <a:solidFill>
                  <a:srgbClr val="F8FAFC"/>
                </a:solidFill>
                <a:latin typeface="Segoe UI"/>
              </a:rPr>
              <a:t>React Dashboard
(Port 5173 - Sub-100ms)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646920" y="3200400"/>
            <a:ext cx="182880" cy="22860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875520" y="2715768"/>
            <a:ext cx="1584655" cy="1078992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/>
            <a:r>
              <a:rPr sz="950" b="1">
                <a:solidFill>
                  <a:srgbClr val="EF4444"/>
                </a:solidFill>
                <a:latin typeface="Segoe UI"/>
              </a:rPr>
              <a:t>5B. AWS SNS Push
</a:t>
            </a:r>
            <a:r>
              <a:rPr sz="850">
                <a:solidFill>
                  <a:srgbClr val="F8FAFC"/>
                </a:solidFill>
                <a:latin typeface="Segoe UI"/>
              </a:rPr>
              <a:t>Cloud Alerting
(Thread Pool Isolated)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77639"/>
            <a:ext cx="5242255" cy="2148840"/>
          </a:xfrm>
          <a:prstGeom prst="roundRect">
            <a:avLst/>
          </a:prstGeom>
          <a:solidFill>
            <a:srgbClr val="1219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/>
            <a:r>
              <a:rPr sz="1150" b="1">
                <a:solidFill>
                  <a:srgbClr val="38BDF8"/>
                </a:solidFill>
                <a:latin typeface="Segoe UI"/>
              </a:rPr>
              <a:t>⚡ High-Throughput Async Non-Blocking File Tailer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• Lock-Free Shared File Stream: </a:t>
            </a:r>
            <a:r>
              <a:rPr sz="850">
                <a:solidFill>
                  <a:srgbClr val="94A3B8"/>
                </a:solidFill>
                <a:latin typeface="Segoe UI"/>
              </a:rPr>
              <a:t>Tails logs directly via Windows-compliant shared read handles without interfering with NGINX write locks.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• Zero Busy-Waiting: </a:t>
            </a:r>
            <a:r>
              <a:rPr sz="850">
                <a:solidFill>
                  <a:srgbClr val="94A3B8"/>
                </a:solidFill>
                <a:latin typeface="Segoe UI"/>
              </a:rPr>
              <a:t>Uses asynchronous polling with backoff yielding to conserve 99% CPU during idle traffic.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• Universal Ingestion API: </a:t>
            </a:r>
            <a:r>
              <a:rPr sz="850">
                <a:solidFill>
                  <a:srgbClr val="94A3B8"/>
                </a:solidFill>
                <a:latin typeface="Segoe UI"/>
              </a:rPr>
              <a:t>Also exposes POST /api/v1/logs for direct OpenTelemetry / FluentBit push ingestion.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77639"/>
            <a:ext cx="5242255" cy="2148840"/>
          </a:xfrm>
          <a:prstGeom prst="roundRect">
            <a:avLst/>
          </a:prstGeom>
          <a:solidFill>
            <a:srgbClr val="12193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/>
            <a:r>
              <a:rPr sz="1150" b="1">
                <a:solidFill>
                  <a:srgbClr val="EF4444"/>
                </a:solidFill>
                <a:latin typeface="Segoe UI"/>
              </a:rPr>
              <a:t>🛡️ Thread-Isolated Cloud Dispatcher (Zero Block)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• asyncio.to_thread Isolation: </a:t>
            </a:r>
            <a:r>
              <a:rPr sz="850">
                <a:solidFill>
                  <a:srgbClr val="94A3B8"/>
                </a:solidFill>
                <a:latin typeface="Segoe UI"/>
              </a:rPr>
              <a:t>AWS Boto3 API calls run on separate background thread workers; cloud latency NEVER blocks the real-time event loop.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• Sub-100ms WebSocket Sync: </a:t>
            </a:r>
            <a:r>
              <a:rPr sz="850">
                <a:solidFill>
                  <a:srgbClr val="94A3B8"/>
                </a:solidFill>
                <a:latin typeface="Segoe UI"/>
              </a:rPr>
              <a:t>WebSocket broadcaster streams raw telemetry directly into React UI without waiting for SNS responses.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• Zero-Crash Cloud Fallback: </a:t>
            </a:r>
            <a:r>
              <a:rPr sz="850">
                <a:solidFill>
                  <a:srgbClr val="94A3B8"/>
                </a:solidFill>
                <a:latin typeface="Segoe UI"/>
              </a:rPr>
              <a:t>If AWS credentials are missing, system auto-activates zero-crash AWS Simulator Mode.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292608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04 // STATISTICAL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Mathematical Formulation &amp; Live Telemetry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LOG SENTINEL  //  ACENTRA HACKATHON 2026  //  THE LIABILITIES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               SLIDE 05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/>
            <a:r>
              <a:rPr sz="1200" b="1">
                <a:solidFill>
                  <a:srgbClr val="38BDF8"/>
                </a:solidFill>
                <a:latin typeface="Segoe UI"/>
              </a:rPr>
              <a:t>Sliding Window &amp; Statistical Z-Score Formulation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1. Instantaneous Window Error Rate:</a:t>
            </a:r>
          </a:p>
          <a:p>
            <a:pPr>
              <a:spcBef>
                <a:spcPts val="200"/>
              </a:spcBef>
            </a:pPr>
            <a:r>
              <a:rPr sz="900" b="1">
                <a:solidFill>
                  <a:srgbClr val="FCF1D0"/>
                </a:solidFill>
                <a:latin typeface="Consolas"/>
              </a:rPr>
              <a:t>    Error Rate (R_t) = Errors in Window / Total Logs in Window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2. Statistical Deviation (Z-Score):</a:t>
            </a:r>
          </a:p>
          <a:p>
            <a:pPr>
              <a:spcBef>
                <a:spcPts val="200"/>
              </a:spcBef>
            </a:pPr>
            <a:r>
              <a:rPr sz="900" b="1">
                <a:solidFill>
                  <a:srgbClr val="FCF1D0"/>
                </a:solidFill>
                <a:latin typeface="Consolas"/>
              </a:rPr>
              <a:t>    Deviation (σ) = (Current Rate - Rolling Baseline) / Standard Dev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Four-Tier Severity &amp; Safeguards: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38BDF8"/>
                </a:solidFill>
                <a:latin typeface="Segoe UI"/>
              </a:rPr>
              <a:t>• 🟢 NORMAL (σ &lt; 2): </a:t>
            </a:r>
            <a:r>
              <a:rPr sz="850">
                <a:solidFill>
                  <a:srgbClr val="94A3B8"/>
                </a:solidFill>
                <a:latin typeface="Segoe UI"/>
              </a:rPr>
              <a:t>Baseline continuously adapts to healthy traffic.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38BDF8"/>
                </a:solidFill>
                <a:latin typeface="Segoe UI"/>
              </a:rPr>
              <a:t>• 🟡 WARNING (2 ≤ σ &lt; 3): </a:t>
            </a:r>
            <a:r>
              <a:rPr sz="850">
                <a:solidFill>
                  <a:srgbClr val="94A3B8"/>
                </a:solidFill>
                <a:latin typeface="Segoe UI"/>
              </a:rPr>
              <a:t>Elevated error rate logged to local buffer.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38BDF8"/>
                </a:solidFill>
                <a:latin typeface="Segoe UI"/>
              </a:rPr>
              <a:t>• 🟠 HIGH (σ ≥ 3 or &gt;10%): </a:t>
            </a:r>
            <a:r>
              <a:rPr sz="850">
                <a:solidFill>
                  <a:srgbClr val="94A3B8"/>
                </a:solidFill>
                <a:latin typeface="Segoe UI"/>
              </a:rPr>
              <a:t>Significant statistical anomaly flagged.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38BDF8"/>
                </a:solidFill>
                <a:latin typeface="Segoe UI"/>
              </a:rPr>
              <a:t>• 🚨 CRITICAL (σ ≥ 3 &amp; &gt;15%): </a:t>
            </a:r>
            <a:r>
              <a:rPr sz="850">
                <a:solidFill>
                  <a:srgbClr val="94A3B8"/>
                </a:solidFill>
                <a:latin typeface="Segoe UI"/>
              </a:rPr>
              <a:t>Severe outage; triggers instant AWS SNS push.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38BDF8"/>
                </a:solidFill>
                <a:latin typeface="Segoe UI"/>
              </a:rPr>
              <a:t>• 🛡️ Low-Volume Protection: </a:t>
            </a:r>
            <a:r>
              <a:rPr sz="850">
                <a:solidFill>
                  <a:srgbClr val="94A3B8"/>
                </a:solidFill>
                <a:latin typeface="Segoe UI"/>
              </a:rPr>
              <a:t>Suppresses noise if window count is &lt; 10 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5425135" cy="4663440"/>
          </a:xfrm>
          <a:prstGeom prst="roundRect">
            <a:avLst/>
          </a:prstGeom>
          <a:solidFill>
            <a:srgbClr val="1A244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WhatsApp Image 2026-09-28 at 16.25.01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666" y="1728216"/>
            <a:ext cx="4802211" cy="39262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0" y="5833872"/>
            <a:ext cx="5425135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/>
            <a:r>
              <a:rPr sz="850" b="1">
                <a:solidFill>
                  <a:srgbClr val="38BDF8"/>
                </a:solidFill>
                <a:latin typeface="Segoe UI"/>
              </a:rPr>
              <a:t>LIVE TELEMETRY: 15.1% Error Rate Surge vs 0.3% Dynamic Baseline (9.9σ Peak Deviation)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292608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05 // PRODUCTION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Battle-Tested with Real NGINX &amp; E-Commerce Microservice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LOG SENTINEL  //  ACENTRA HACKATHON 2026  //  THE LIABILITIES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               SLIDE 06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594360"/>
          </a:xfrm>
          <a:prstGeom prst="roundRect">
            <a:avLst/>
          </a:prstGeom>
          <a:solidFill>
            <a:srgbClr val="1219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100" b="1">
                <a:solidFill>
                  <a:srgbClr val="38BDF8"/>
                </a:solidFill>
                <a:latin typeface="Segoe UI"/>
              </a:rPr>
              <a:t>NO MOCKED DATA: </a:t>
            </a:r>
            <a:r>
              <a:rPr sz="1100">
                <a:solidFill>
                  <a:srgbClr val="F8FAFC"/>
                </a:solidFill>
                <a:latin typeface="Segoe UI"/>
              </a:rPr>
              <a:t>Log Sentinel runs against a genuine local multi-service architecture with real TCP networking and disk I/O.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5242255" cy="196596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/>
            <a:r>
              <a:rPr sz="1200" b="1">
                <a:solidFill>
                  <a:srgbClr val="38BDF8"/>
                </a:solidFill>
                <a:latin typeface="Segoe UI"/>
              </a:rPr>
              <a:t>Official NGINX Web Server (Port 8080)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Standard Reverse Proxy: </a:t>
            </a:r>
            <a:r>
              <a:rPr sz="900">
                <a:solidFill>
                  <a:srgbClr val="94A3B8"/>
                </a:solidFill>
                <a:latin typeface="Segoe UI"/>
              </a:rPr>
              <a:t>Listens on port 8080 and proxies traffic to backend microservices.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Combined Log Format: </a:t>
            </a:r>
            <a:r>
              <a:rPr sz="900">
                <a:solidFill>
                  <a:srgbClr val="94A3B8"/>
                </a:solidFill>
                <a:latin typeface="Segoe UI"/>
              </a:rPr>
              <a:t>Emits production standard access logs with client IP, timestamp, method, status code, and latency.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Direct Disk Writing: </a:t>
            </a:r>
            <a:r>
              <a:rPr sz="900">
                <a:solidFill>
                  <a:srgbClr val="94A3B8"/>
                </a:solidFill>
                <a:latin typeface="Segoe UI"/>
              </a:rPr>
              <a:t>Writes to logs/app.log concurrently while Sentinel tails without locking.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5242255" cy="196596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/>
            <a:r>
              <a:rPr sz="1200" b="1">
                <a:solidFill>
                  <a:srgbClr val="2CB67D"/>
                </a:solidFill>
                <a:latin typeface="Segoe UI"/>
              </a:rPr>
              <a:t>CloudMart E-Commerce API (Port 5001)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Standalone Microservice: </a:t>
            </a:r>
            <a:r>
              <a:rPr sz="900">
                <a:solidFill>
                  <a:srgbClr val="94A3B8"/>
                </a:solidFill>
                <a:latin typeface="Segoe UI"/>
              </a:rPr>
              <a:t>Production-ready FastAPI service modeling modern e-commerce operations.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Real Business Endpoints: </a:t>
            </a:r>
            <a:r>
              <a:rPr sz="900">
                <a:solidFill>
                  <a:srgbClr val="94A3B8"/>
                </a:solidFill>
                <a:latin typeface="Segoe UI"/>
              </a:rPr>
              <a:t>Serves /api/products, /api/orders, /api/payments, and /api/auth.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Realistic Latencies: </a:t>
            </a:r>
            <a:r>
              <a:rPr sz="900">
                <a:solidFill>
                  <a:srgbClr val="94A3B8"/>
                </a:solidFill>
                <a:latin typeface="Segoe UI"/>
              </a:rPr>
              <a:t>Simulates realistic database query latency (~4ms to 120ms).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5242255" cy="196596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/>
            <a:r>
              <a:rPr sz="1200" b="1">
                <a:solidFill>
                  <a:srgbClr val="A855F7"/>
                </a:solidFill>
                <a:latin typeface="Segoe UI"/>
              </a:rPr>
              <a:t>Universal Ingestion API (POST /api/v1/logs)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OTel / FluentBit Ready: </a:t>
            </a:r>
            <a:r>
              <a:rPr sz="900">
                <a:solidFill>
                  <a:srgbClr val="94A3B8"/>
                </a:solidFill>
                <a:latin typeface="Segoe UI"/>
              </a:rPr>
              <a:t>Accepts batch and single JSON log payloads from any modern collector.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Multi-Source Support: </a:t>
            </a:r>
            <a:r>
              <a:rPr sz="900">
                <a:solidFill>
                  <a:srgbClr val="94A3B8"/>
                </a:solidFill>
                <a:latin typeface="Segoe UI"/>
              </a:rPr>
              <a:t>Can ingest Kubernetes pod logs, Docker stdout, and syslog streams simultaneously.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Stateless Ingestion: </a:t>
            </a:r>
            <a:r>
              <a:rPr sz="900">
                <a:solidFill>
                  <a:srgbClr val="94A3B8"/>
                </a:solidFill>
                <a:latin typeface="Segoe UI"/>
              </a:rPr>
              <a:t>Parses and routes logs to the anomaly pipeline in &lt; 1ms per event.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297679"/>
            <a:ext cx="5242255" cy="196596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/>
            <a:r>
              <a:rPr sz="1200" b="1">
                <a:solidFill>
                  <a:srgbClr val="EF4444"/>
                </a:solidFill>
                <a:latin typeface="Segoe UI"/>
              </a:rPr>
              <a:t>Chaos Injection Engine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One-Click Outage Trigger: </a:t>
            </a:r>
            <a:r>
              <a:rPr sz="900">
                <a:solidFill>
                  <a:srgbClr val="94A3B8"/>
                </a:solidFill>
                <a:latin typeface="Segoe UI"/>
              </a:rPr>
              <a:t>Simulates catastrophic infrastructure failures on demand during live demos.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Stripe 504 Gateway Timeout: </a:t>
            </a:r>
            <a:r>
              <a:rPr sz="900">
                <a:solidFill>
                  <a:srgbClr val="94A3B8"/>
                </a:solidFill>
                <a:latin typeface="Segoe UI"/>
              </a:rPr>
              <a:t>Emulates 3rd-party payment provider outage during peak shopping.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PostgreSQL Deadlock (500): </a:t>
            </a:r>
            <a:r>
              <a:rPr sz="900">
                <a:solidFill>
                  <a:srgbClr val="94A3B8"/>
                </a:solidFill>
                <a:latin typeface="Segoe UI"/>
              </a:rPr>
              <a:t>Simulates database connection pool exhaustion and transaction lockups.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292608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06 // FRONTEND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Real-Time React + Vite Glassmorphic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LOG SENTINEL  //  ACENTRA HACKATHON 2026  //  THE LIABILITIES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               SLIDE 07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389120" cy="466344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/>
            <a:r>
              <a:rPr sz="1250" b="1">
                <a:solidFill>
                  <a:srgbClr val="38BDF8"/>
                </a:solidFill>
                <a:latin typeface="Segoe UI"/>
              </a:rPr>
              <a:t>Observability UI Modules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• 🎮 Live Chaos Controller: </a:t>
            </a:r>
            <a:r>
              <a:rPr sz="850">
                <a:solidFill>
                  <a:srgbClr val="94A3B8"/>
                </a:solidFill>
                <a:latin typeface="Segoe UI"/>
              </a:rPr>
              <a:t>One-click triggers for Normal Traffic, Stripe 504 Timeout, DB Deadlock, and Recovery.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• 📈 Dual-Line Area Chart: </a:t>
            </a:r>
            <a:r>
              <a:rPr sz="850">
                <a:solidFill>
                  <a:srgbClr val="94A3B8"/>
                </a:solidFill>
                <a:latin typeface="Segoe UI"/>
              </a:rPr>
              <a:t>80-point rolling history displaying Error Rate area vs Baseline dashed line at 60 FPS.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• 📋 Real-Time Alert Feed: </a:t>
            </a:r>
            <a:r>
              <a:rPr sz="850">
                <a:solidFill>
                  <a:srgbClr val="94A3B8"/>
                </a:solidFill>
                <a:latin typeface="Segoe UI"/>
              </a:rPr>
              <a:t>Timestamped incident audit trail with root-cause identification (`psycopg2.operationalerror`).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• ⚡ Sub-100ms WebSocket Sync: </a:t>
            </a:r>
            <a:r>
              <a:rPr sz="850">
                <a:solidFill>
                  <a:srgbClr val="94A3B8"/>
                </a:solidFill>
                <a:latin typeface="Segoe UI"/>
              </a:rPr>
              <a:t>Instant push synchronization between FastAPI backend and React frontend.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• 🛍️ Interactive Storefront Tab: </a:t>
            </a:r>
            <a:r>
              <a:rPr sz="850">
                <a:solidFill>
                  <a:srgbClr val="94A3B8"/>
                </a:solidFill>
                <a:latin typeface="Segoe UI"/>
              </a:rPr>
              <a:t>Embedded store allowing judges to click 'Buy Now' to generate live TCP access 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463040"/>
            <a:ext cx="6156655" cy="4663440"/>
          </a:xfrm>
          <a:prstGeom prst="roundRect">
            <a:avLst/>
          </a:prstGeom>
          <a:solidFill>
            <a:srgbClr val="1A244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WhatsApp Image 2026-09-28 at 16.25.0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412" y="1700784"/>
            <a:ext cx="5373661" cy="3858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0" y="5833872"/>
            <a:ext cx="6156655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/>
            <a:r>
              <a:rPr sz="850" b="1">
                <a:solidFill>
                  <a:srgbClr val="38BDF8"/>
                </a:solidFill>
                <a:latin typeface="Segoe UI"/>
              </a:rPr>
              <a:t>PRODUCTION UI: Real-Time Overview Dashboard (Rate: 15.1% | Baseline: 0.3% | Deviation: 9.9σ | Status: HIGH)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292608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07 // ENTERPRISE ALERTING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Asynchronous AWS SNS Cloud Notification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LOG SENTINEL  //  ACENTRA HACKATHON 2026  //  THE LIABILITIES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               SLIDE 08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389120" cy="466344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/>
            <a:r>
              <a:rPr sz="1200" b="1">
                <a:solidFill>
                  <a:srgbClr val="EF4444"/>
                </a:solidFill>
                <a:latin typeface="Segoe UI"/>
              </a:rPr>
              <a:t>Enterprise Alerting Architecture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• Multi-Tier Notification Fan-Out: </a:t>
            </a:r>
            <a:r>
              <a:rPr sz="850">
                <a:solidFill>
                  <a:srgbClr val="94A3B8"/>
                </a:solidFill>
                <a:latin typeface="Segoe UI"/>
              </a:rPr>
              <a:t>HIGH and CRITICAL anomalies trigger instant AWS SNS push notifications fanning out to Email, SMS, Slack, and PagerDuty.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• Thread Pool Isolation (`asyncio.to_thread`): </a:t>
            </a:r>
            <a:r>
              <a:rPr sz="850">
                <a:solidFill>
                  <a:srgbClr val="94A3B8"/>
                </a:solidFill>
                <a:latin typeface="Segoe UI"/>
              </a:rPr>
              <a:t>AWS Boto3 API calls run on background worker threads — AWS network latency NEVER blocks log tailing or WebSocket broadcasts.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• Zero-Crash AWS Simulator Fallback: </a:t>
            </a:r>
            <a:r>
              <a:rPr sz="850">
                <a:solidFill>
                  <a:srgbClr val="94A3B8"/>
                </a:solidFill>
                <a:latin typeface="Segoe UI"/>
              </a:rPr>
              <a:t>If AWS credentials are missing, system auto-activates zero-crash Simulator Mode with full JSON audit logs.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F8FAFC"/>
                </a:solidFill>
                <a:latin typeface="Segoe UI"/>
              </a:rPr>
              <a:t>• Automated Root-Cause Correlation: </a:t>
            </a:r>
            <a:r>
              <a:rPr sz="850">
                <a:solidFill>
                  <a:srgbClr val="94A3B8"/>
                </a:solidFill>
                <a:latin typeface="Segoe UI"/>
              </a:rPr>
              <a:t>Alert payload flags exact culprit service and exception (`[order-service] psycopg2.operationalerror`).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463040"/>
            <a:ext cx="6156655" cy="4663440"/>
          </a:xfrm>
          <a:prstGeom prst="roundRect">
            <a:avLst/>
          </a:prstGeom>
          <a:solidFill>
            <a:srgbClr val="1A244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WhatsApp Image 2026-09-28 at 16.25.01 (2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415" y="1728216"/>
            <a:ext cx="5534863" cy="39745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0" y="5833872"/>
            <a:ext cx="6156655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/>
            <a:r>
              <a:rPr sz="850" b="1">
                <a:solidFill>
                  <a:srgbClr val="EF4444"/>
                </a:solidFill>
                <a:latin typeface="Segoe UI"/>
              </a:rPr>
              <a:t>INCIDENT AUDIT TRAIL: 40 Live Anomaly Alerts with Exact Root Cause &amp; Statistical Scores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292608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08 // LIVE 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The Winning Live Demo Walkthrough (The 4-Minute Story)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LOG SENTINEL  //  ACENTRA HACKATHON 2026  //  THE LIABILITIES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               SLIDE 09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389120" cy="466344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/>
            <a:r>
              <a:rPr sz="1200" b="1">
                <a:solidFill>
                  <a:srgbClr val="A855F7"/>
                </a:solidFill>
                <a:latin typeface="Segoe UI"/>
              </a:rPr>
              <a:t>4-Minute Live Narrative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38BDF8"/>
                </a:solidFill>
                <a:latin typeface="Segoe UI"/>
              </a:rPr>
              <a:t>🟢 ACT 1: Normal Traffic (0:00 - 1:00)
</a:t>
            </a:r>
            <a:r>
              <a:rPr sz="850">
                <a:solidFill>
                  <a:srgbClr val="94A3B8"/>
                </a:solidFill>
                <a:latin typeface="Segoe UI"/>
              </a:rPr>
              <a:t>Shoppers browse CloudMart; NGINX returns 200 OK (latency ~4ms). Dashboard baseline flatlines at 0.0%.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38BDF8"/>
                </a:solidFill>
                <a:latin typeface="Segoe UI"/>
              </a:rPr>
              <a:t>🚨 ACT 2: Black Friday Outage (1:00 - 2:15)
</a:t>
            </a:r>
            <a:r>
              <a:rPr sz="850">
                <a:solidFill>
                  <a:srgbClr val="94A3B8"/>
                </a:solidFill>
                <a:latin typeface="Segoe UI"/>
              </a:rPr>
              <a:t>Stripe 504 timeout injected; in &lt;500ms error rate surges to 80% and Sentinel transitions to HIGH/CRITICAL.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38BDF8"/>
                </a:solidFill>
                <a:latin typeface="Segoe UI"/>
              </a:rPr>
              <a:t>🔄 ACT 3: Self-Healing Recovery (2:15 - 3:15)
</a:t>
            </a:r>
            <a:r>
              <a:rPr sz="850">
                <a:solidFill>
                  <a:srgbClr val="94A3B8"/>
                </a:solidFill>
                <a:latin typeface="Segoe UI"/>
              </a:rPr>
              <a:t>Traffic recovers; clean logs flush the rolling window. System smoothly resets to NORMAL automatically.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38BDF8"/>
                </a:solidFill>
                <a:latin typeface="Segoe UI"/>
              </a:rPr>
              <a:t>💳 ACT 4: Judge Interaction (3:15 - 4:00)
</a:t>
            </a:r>
            <a:r>
              <a:rPr sz="850">
                <a:solidFill>
                  <a:srgbClr val="94A3B8"/>
                </a:solidFill>
                <a:latin typeface="Segoe UI"/>
              </a:rPr>
              <a:t>Judge clicks 'Buy Now' on embedded store; live TCP request registers on NGINX and flashes on dashboard.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463040"/>
            <a:ext cx="6156655" cy="4663440"/>
          </a:xfrm>
          <a:prstGeom prst="roundRect">
            <a:avLst/>
          </a:prstGeom>
          <a:solidFill>
            <a:srgbClr val="1A244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WhatsApp Image 2026-09-28 at 16.25.01 (4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8352" y="1685563"/>
            <a:ext cx="5466990" cy="392578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0" y="5833872"/>
            <a:ext cx="6156655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/>
            <a:r>
              <a:rPr sz="850" b="1">
                <a:solidFill>
                  <a:srgbClr val="A855F7"/>
                </a:solidFill>
                <a:latin typeface="Segoe UI"/>
              </a:rPr>
              <a:t>STATE MACHINE TELEMETRY: Automatic Transitions from WARNING (16:20:34) to HIGH (16:20:37) &amp; Uptime 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292608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09 // 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Benchmarked Performance &amp; 100% Test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LOG SENTINEL  //  ACENTRA HACKATHON 2026  //  THE LIABILITIES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               SLIDE 10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389120" cy="466344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/>
            <a:r>
              <a:rPr sz="1200" b="1">
                <a:solidFill>
                  <a:srgbClr val="38BDF8"/>
                </a:solidFill>
                <a:latin typeface="Segoe UI"/>
              </a:rPr>
              <a:t>Benchmarked Performance &amp; QA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⚡ &lt; 15ms Latency: </a:t>
            </a:r>
            <a:r>
              <a:rPr sz="850">
                <a:solidFill>
                  <a:srgbClr val="94A3B8"/>
                </a:solidFill>
                <a:latin typeface="Segoe UI"/>
              </a:rPr>
              <a:t>From disk write to anomaly calculation.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🚀 Sub-100ms Sync: </a:t>
            </a:r>
            <a:r>
              <a:rPr sz="850">
                <a:solidFill>
                  <a:srgbClr val="94A3B8"/>
                </a:solidFill>
                <a:latin typeface="Segoe UI"/>
              </a:rPr>
              <a:t>Real-time WebSocket frame rate.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🧪 100% Passing Tests: </a:t>
            </a:r>
            <a:r>
              <a:rPr sz="850">
                <a:solidFill>
                  <a:srgbClr val="94A3B8"/>
                </a:solidFill>
                <a:latin typeface="Segoe UI"/>
              </a:rPr>
              <a:t>10 comprehensive Pytest detector test cases.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🔒 Shared File Concurrency: </a:t>
            </a:r>
            <a:r>
              <a:rPr sz="850">
                <a:solidFill>
                  <a:srgbClr val="94A3B8"/>
                </a:solidFill>
                <a:latin typeface="Segoe UI"/>
              </a:rPr>
              <a:t>Tested high-rate simultaneous write and read on Windows OS.</a:t>
            </a:r>
          </a:p>
          <a:p>
            <a:pPr>
              <a:spcBef>
                <a:spcPts val="800"/>
              </a:spcBef>
            </a:pPr>
            <a:r>
              <a:rPr sz="850">
                <a:solidFill>
                  <a:srgbClr val="38BDF8"/>
                </a:solidFill>
                <a:latin typeface="Segoe UI"/>
              </a:rPr>
              <a:t>✔ Automated Flap Damping Safeguards
✔ Thread Isolation Under Simulated Network Drops
✔ Zero-Error Production Vite 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463040"/>
            <a:ext cx="6156655" cy="4663440"/>
          </a:xfrm>
          <a:prstGeom prst="roundRect">
            <a:avLst/>
          </a:prstGeom>
          <a:solidFill>
            <a:srgbClr val="1A244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WhatsApp Image 2026-09-28 at 16.25.01 (3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935" y="1681150"/>
            <a:ext cx="5401003" cy="38784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0" y="5833872"/>
            <a:ext cx="6156655" cy="256032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ctr"/>
            <a:r>
              <a:rPr sz="850" b="1">
                <a:solidFill>
                  <a:srgbClr val="38BDF8"/>
                </a:solidFill>
                <a:latin typeface="Segoe UI"/>
              </a:rPr>
              <a:t>REAL STREAMING LOG CONSOLE: 312 Events Processed | 200 Entries Buffer | Real-Time Root Cause Stacks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926080" cy="292608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950" b="1">
                <a:solidFill>
                  <a:srgbClr val="38BDF8"/>
                </a:solidFill>
                <a:latin typeface="Segoe UI"/>
              </a:rPr>
              <a:t>10 // IMPACT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28655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Enterprise Business Value &amp; Next-Gen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Segoe UI"/>
              </a:rPr>
              <a:t>LOG SENTINEL  //  ACENTRA HACKATHON 2026  //  THE LIABILITIES</a:t>
            </a:r>
            <a:r>
              <a:rPr sz="900" b="1">
                <a:solidFill>
                  <a:srgbClr val="38BDF8"/>
                </a:solidFill>
                <a:latin typeface="Segoe UI"/>
              </a:rPr>
              <a:t>                                                                                                              SLIDE 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42255" cy="466344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46304" rIns="164592" rtlCol="0" anchor="ctr"/>
          <a:lstStyle/>
          <a:p>
            <a:pPr algn="ctr"/>
            <a:r>
              <a:rPr sz="1250" b="1">
                <a:solidFill>
                  <a:srgbClr val="2CB67D"/>
                </a:solidFill>
                <a:latin typeface="Segoe UI"/>
              </a:rPr>
              <a:t>Measurable Business Impact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📉 MTTD Reduced from Minutes to &lt; 100ms:
   </a:t>
            </a:r>
            <a:r>
              <a:rPr sz="900">
                <a:solidFill>
                  <a:srgbClr val="94A3B8"/>
                </a:solidFill>
                <a:latin typeface="Segoe UI"/>
              </a:rPr>
              <a:t>Enables immediate automatic failovers and saves thousands of dollars in lost transactions during payment outages.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🛡️ Revenue Protection During Checkout Outages:
   </a:t>
            </a:r>
            <a:r>
              <a:rPr sz="900">
                <a:solidFill>
                  <a:srgbClr val="94A3B8"/>
                </a:solidFill>
                <a:latin typeface="Segoe UI"/>
              </a:rPr>
              <a:t>Detects Stripe 504 and payment gateway failures before customers bounce to competitors.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🛑 Eliminates On-Call Alert Fatigue:
   </a:t>
            </a:r>
            <a:r>
              <a:rPr sz="900">
                <a:solidFill>
                  <a:srgbClr val="94A3B8"/>
                </a:solidFill>
                <a:latin typeface="Segoe UI"/>
              </a:rPr>
              <a:t>Dynamic rolling Z-Score baseline suppresses noisy false alarms caused by expected traffic fluctuations.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💰 90% Cost Reduction vs Cloud Ingestion:
   </a:t>
            </a:r>
            <a:r>
              <a:rPr sz="900">
                <a:solidFill>
                  <a:srgbClr val="94A3B8"/>
                </a:solidFill>
                <a:latin typeface="Segoe UI"/>
              </a:rPr>
              <a:t>Eliminates massive cloud logging egress and storage bills by performing statistical detection at the source.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66344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46304" rIns="164592" rtlCol="0" anchor="ctr"/>
          <a:lstStyle/>
          <a:p>
            <a:pPr algn="ctr"/>
            <a:r>
              <a:rPr sz="1250" b="1">
                <a:solidFill>
                  <a:srgbClr val="A855F7"/>
                </a:solidFill>
                <a:latin typeface="Segoe UI"/>
              </a:rPr>
              <a:t>Future Technical Roadmap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Horizon 1: 🛰️ Distributed Ingestion Scale:
   </a:t>
            </a:r>
            <a:r>
              <a:rPr sz="900">
                <a:solidFill>
                  <a:srgbClr val="94A3B8"/>
                </a:solidFill>
                <a:latin typeface="Segoe UI"/>
              </a:rPr>
              <a:t>Integrate Apache Kafka and Redis Streams clustering to scale log ingestion to 1,000,000+ logs/second across distributed server farms.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Horizon 2: 🤖 AI-Powered Root Cause Explanations:
   </a:t>
            </a:r>
            <a:r>
              <a:rPr sz="900">
                <a:solidFill>
                  <a:srgbClr val="94A3B8"/>
                </a:solidFill>
                <a:latin typeface="Segoe UI"/>
              </a:rPr>
              <a:t>Attach an LLM agent to inspect anomalous stack traces and auto-generate pull request bug fixes and rollback suggestions in real time.</a:t>
            </a:r>
          </a:p>
          <a:p>
            <a:pPr>
              <a:spcBef>
                <a:spcPts val="800"/>
              </a:spcBef>
            </a:pPr>
            <a:r>
              <a:rPr sz="950" b="1">
                <a:solidFill>
                  <a:srgbClr val="F8FAFC"/>
                </a:solidFill>
                <a:latin typeface="Segoe UI"/>
              </a:rPr>
              <a:t>• Horizon 3: ☸️ Kubernetes Operator &amp; Auto-Remediation:
   </a:t>
            </a:r>
            <a:r>
              <a:rPr sz="900">
                <a:solidFill>
                  <a:srgbClr val="94A3B8"/>
                </a:solidFill>
                <a:latin typeface="Segoe UI"/>
              </a:rPr>
              <a:t>Trigger automated pod restarts, circuit breaker tripwires, and traffic rerouting upon CRITICAL anomaly detection.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1219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188720" y="868680"/>
            <a:ext cx="3474720" cy="32004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8BDF8"/>
                </a:solidFill>
                <a:latin typeface="Segoe UI"/>
              </a:rPr>
              <a:t>CONCLUSION  •  SUMMARY &amp; LIVE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23444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8FAFC"/>
                </a:solidFill>
                <a:latin typeface="Segoe UI"/>
              </a:rPr>
              <a:t>LOG SENTINEL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011680"/>
            <a:ext cx="9814255" cy="77724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2C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200" b="1" i="1">
                <a:solidFill>
                  <a:srgbClr val="F8FAFC"/>
                </a:solidFill>
                <a:latin typeface="Segoe UI"/>
              </a:rPr>
              <a:t>“ Log Sentinel bridges the gap between raw server logs and instantaneous incident response with statistical precision and zero cloud overhead. 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926080"/>
            <a:ext cx="2331720" cy="123444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rtlCol="0" anchor="ctr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React Observability UI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38BDF8"/>
                </a:solidFill>
                <a:latin typeface="Consolas"/>
              </a:rPr>
              <a:t>http://localhost:5173/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94A3B8"/>
                </a:solidFill>
                <a:latin typeface="Segoe UI"/>
              </a:rPr>
              <a:t>Live Dark Glassmorphic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926080"/>
            <a:ext cx="2331720" cy="123444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rtlCol="0" anchor="ctr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NGINX Web Server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38BDF8"/>
                </a:solidFill>
                <a:latin typeface="Consolas"/>
              </a:rPr>
              <a:t>http://127.0.0.1:8080/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94A3B8"/>
                </a:solidFill>
                <a:latin typeface="Segoe UI"/>
              </a:rPr>
              <a:t>Production Reverse Proxy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926080"/>
            <a:ext cx="2331720" cy="123444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rtlCol="0" anchor="ctr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CloudMart Microservice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38BDF8"/>
                </a:solidFill>
                <a:latin typeface="Consolas"/>
              </a:rPr>
              <a:t>http://127.0.0.1:5001/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94A3B8"/>
                </a:solidFill>
                <a:latin typeface="Segoe UI"/>
              </a:rPr>
              <a:t>Standalone E-Commerce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2926080"/>
            <a:ext cx="2331720" cy="1234440"/>
          </a:xfrm>
          <a:prstGeom prst="roundRect">
            <a:avLst/>
          </a:prstGeom>
          <a:solidFill>
            <a:srgbClr val="1A24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Ins="109728" rtlCol="0" anchor="ctr"/>
          <a:lstStyle/>
          <a:p>
            <a:pPr algn="ctr"/>
            <a:r>
              <a:rPr sz="1050" b="1">
                <a:solidFill>
                  <a:srgbClr val="F8FAFC"/>
                </a:solidFill>
                <a:latin typeface="Segoe UI"/>
              </a:rPr>
              <a:t>Backend &amp; API Docs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38BDF8"/>
                </a:solidFill>
                <a:latin typeface="Consolas"/>
              </a:rPr>
              <a:t>http://127.0.0.1:8000/docs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94A3B8"/>
                </a:solidFill>
                <a:latin typeface="Segoe UI"/>
              </a:rPr>
              <a:t>FastAPI Engine &amp; Swagger Docs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4343400"/>
            <a:ext cx="9814255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/>
            <a:r>
              <a:rPr sz="2400" b="1">
                <a:solidFill>
                  <a:srgbClr val="F8FAFC"/>
                </a:solidFill>
                <a:latin typeface="Segoe UI"/>
              </a:rPr>
              <a:t>THANK YOU!</a:t>
            </a:r>
          </a:p>
          <a:p>
            <a:pPr algn="ctr">
              <a:spcBef>
                <a:spcPts val="400"/>
              </a:spcBef>
            </a:pPr>
            <a:r>
              <a:rPr sz="1200" b="1">
                <a:solidFill>
                  <a:srgbClr val="38BDF8"/>
                </a:solidFill>
                <a:latin typeface="Segoe UI"/>
              </a:rPr>
              <a:t>We welcome your questions and invite you to test live chaos injection on the dashboard.</a:t>
            </a:r>
          </a:p>
          <a:p>
            <a:pPr algn="ctr">
              <a:spcBef>
                <a:spcPts val="6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Team The Liabilities: Lokesh R  •  Jashwanth B  •  Harish Neralla  •  Tejeshwar Senthilkumar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2304</Words>
  <Application>Microsoft Office PowerPoint</Application>
  <PresentationFormat>Widescreen</PresentationFormat>
  <Paragraphs>192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TEJESHWAR SENTHILKUMAR (RA2411003010386)</cp:lastModifiedBy>
  <cp:revision>2</cp:revision>
  <dcterms:created xsi:type="dcterms:W3CDTF">2013-01-27T09:14:16Z</dcterms:created>
  <dcterms:modified xsi:type="dcterms:W3CDTF">2026-09-28T11:21:53Z</dcterms:modified>
  <cp:category/>
</cp:coreProperties>
</file>